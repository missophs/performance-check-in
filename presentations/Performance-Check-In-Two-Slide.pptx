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October 9, 2026. Manager-side AI is working, confirmed by Melissa. Agent live tests verified real generation, editing, approval, private saving and submission for questions, summaries and actions using synthetic content. All 86 automated tests pass. User confirmation does not independently verify every recipient reply or negative-path scenario.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shared fields from the selected saved entry go to OpenAI with consent. Manager notes/private review drafts and identity/provenance metadata are excluded by an allowlist. Shared fields are not automatically redacted. store:false is not a zero-retention guarantee. AI can invent details, so human review remains required. Owners and dates are manual. Before wider rollout: complete access/conflict/expiry/outage checks, agree support and privacy ownership, and set cost/usage limits. Bulk staff import and HRIS integration are optional future features, not requirements to use the current pilot. New conversation wording updated: Choose areas, Start new conversation, New conversation with mel — nothing saved yet, and Not saved.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548640" y="274320"/>
            <a:ext cx="10972800" cy="502920"/>
          </a:xfrm>
          <a:prstGeom prst="rect">
            <a:avLst/>
          </a:prstGeom>
          <a:noFill/>
        </p:spPr>
        <p:txBody>
          <a:bodyPr wrap="square" lIns="0" rIns="0" tIns="0" bIns="0">
            <a:spAutoFit/>
          </a:bodyPr>
          <a:lstStyle/>
          <a:p>
            <a:pPr>
              <a:spcAft>
                <a:spcPts val="900"/>
              </a:spcAft>
            </a:pPr>
            <a:r>
              <a:rPr sz="2900" b="1">
                <a:solidFill>
                  <a:srgbClr val="21163A"/>
                </a:solidFill>
                <a:latin typeface="Arial"/>
              </a:rPr>
              <a:t>Performance Check-In | Working pilot</a:t>
            </a:r>
          </a:p>
        </p:txBody>
      </p:sp>
      <p:sp>
        <p:nvSpPr>
          <p:cNvPr id="5" name="TextBox 4"/>
          <p:cNvSpPr txBox="1"/>
          <p:nvPr/>
        </p:nvSpPr>
        <p:spPr>
          <a:xfrm>
            <a:off x="548640" y="868680"/>
            <a:ext cx="10972800" cy="457200"/>
          </a:xfrm>
          <a:prstGeom prst="rect">
            <a:avLst/>
          </a:prstGeom>
          <a:noFill/>
        </p:spPr>
        <p:txBody>
          <a:bodyPr wrap="square" lIns="0" rIns="0" tIns="0" bIns="0">
            <a:spAutoFit/>
          </a:bodyPr>
          <a:lstStyle/>
          <a:p>
            <a:pPr>
              <a:spcAft>
                <a:spcPts val="900"/>
              </a:spcAft>
            </a:pPr>
            <a:r>
              <a:rPr sz="1500" b="0">
                <a:solidFill>
                  <a:srgbClr val="596070"/>
                </a:solidFill>
                <a:latin typeface="Arial"/>
              </a:rPr>
              <a:t>Human-led Slack conversations, with optional AI assistance</a:t>
            </a:r>
          </a:p>
        </p:txBody>
      </p:sp>
      <p:sp>
        <p:nvSpPr>
          <p:cNvPr id="6" name="TextBox 5"/>
          <p:cNvSpPr txBox="1"/>
          <p:nvPr/>
        </p:nvSpPr>
        <p:spPr>
          <a:xfrm>
            <a:off x="548640" y="6473952"/>
            <a:ext cx="10058400" cy="182880"/>
          </a:xfrm>
          <a:prstGeom prst="rect">
            <a:avLst/>
          </a:prstGeom>
          <a:noFill/>
        </p:spPr>
        <p:txBody>
          <a:bodyPr wrap="square" lIns="0" rIns="0" tIns="0" bIns="0">
            <a:spAutoFit/>
          </a:bodyPr>
          <a:lstStyle/>
          <a:p>
            <a:pPr>
              <a:spcAft>
                <a:spcPts val="900"/>
              </a:spcAft>
            </a:pPr>
            <a:r>
              <a:rPr sz="1000" b="0">
                <a:solidFill>
                  <a:srgbClr val="596070"/>
                </a:solidFill>
                <a:latin typeface="Arial"/>
              </a:rPr>
              <a:t>PERFORMANCE CHECK-IN  •  PILOT STATUS  •  OCTOBER 9, 2026</a:t>
            </a:r>
          </a:p>
        </p:txBody>
      </p:sp>
      <p:sp>
        <p:nvSpPr>
          <p:cNvPr id="7" name="TextBox 6"/>
          <p:cNvSpPr txBox="1"/>
          <p:nvPr/>
        </p:nvSpPr>
        <p:spPr>
          <a:xfrm>
            <a:off x="10972800" y="6473952"/>
            <a:ext cx="548640" cy="182880"/>
          </a:xfrm>
          <a:prstGeom prst="rect">
            <a:avLst/>
          </a:prstGeom>
          <a:noFill/>
        </p:spPr>
        <p:txBody>
          <a:bodyPr wrap="square" lIns="0" rIns="0" tIns="0" bIns="0">
            <a:spAutoFit/>
          </a:bodyPr>
          <a:lstStyle/>
          <a:p>
            <a:pPr>
              <a:spcAft>
                <a:spcPts val="900"/>
              </a:spcAft>
            </a:pPr>
            <a:r>
              <a:rPr sz="1000" b="0">
                <a:solidFill>
                  <a:srgbClr val="596070"/>
                </a:solidFill>
                <a:latin typeface="Arial"/>
              </a:rPr>
              <a:t>1</a:t>
            </a:r>
          </a:p>
        </p:txBody>
      </p:sp>
      <p:sp>
        <p:nvSpPr>
          <p:cNvPr id="8" name="Rounded Rectangle 7"/>
          <p:cNvSpPr/>
          <p:nvPr/>
        </p:nvSpPr>
        <p:spPr>
          <a:xfrm>
            <a:off x="548640" y="1554480"/>
            <a:ext cx="5486400" cy="4389120"/>
          </a:xfrm>
          <a:prstGeom prst="roundRect">
            <a:avLst/>
          </a:prstGeom>
          <a:solidFill>
            <a:srgbClr val="F3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37360"/>
            <a:ext cx="5084064" cy="411480"/>
          </a:xfrm>
          <a:prstGeom prst="rect">
            <a:avLst/>
          </a:prstGeom>
          <a:noFill/>
        </p:spPr>
        <p:txBody>
          <a:bodyPr wrap="square" lIns="0" rIns="0" tIns="0" bIns="0">
            <a:spAutoFit/>
          </a:bodyPr>
          <a:lstStyle/>
          <a:p>
            <a:pPr>
              <a:spcAft>
                <a:spcPts val="900"/>
              </a:spcAft>
            </a:pPr>
            <a:r>
              <a:rPr sz="2000" b="1">
                <a:solidFill>
                  <a:srgbClr val="087D64"/>
                </a:solidFill>
                <a:latin typeface="Arial"/>
              </a:rPr>
              <a:t>The check-in experience</a:t>
            </a:r>
          </a:p>
        </p:txBody>
      </p:sp>
      <p:sp>
        <p:nvSpPr>
          <p:cNvPr id="10" name="TextBox 9"/>
          <p:cNvSpPr txBox="1"/>
          <p:nvPr/>
        </p:nvSpPr>
        <p:spPr>
          <a:xfrm>
            <a:off x="749808" y="2286000"/>
            <a:ext cx="5084064" cy="3520439"/>
          </a:xfrm>
          <a:prstGeom prst="rect">
            <a:avLst/>
          </a:prstGeom>
          <a:noFill/>
        </p:spPr>
        <p:txBody>
          <a:bodyPr wrap="square" lIns="0" rIns="0" tIns="0" bIns="0">
            <a:spAutoFit/>
          </a:bodyPr>
          <a:lstStyle/>
          <a:p>
            <a:pPr>
              <a:spcAft>
                <a:spcPts val="900"/>
              </a:spcAft>
            </a:pPr>
            <a:r>
              <a:rPr sz="2000" b="0">
                <a:solidFill>
                  <a:srgbClr val="20212A"/>
                </a:solidFill>
                <a:latin typeface="Arial"/>
              </a:rPr>
              <a:t>• Start a new conversation with a colleague</a:t>
            </a:r>
          </a:p>
          <a:p>
            <a:pPr>
              <a:spcAft>
                <a:spcPts val="900"/>
              </a:spcAft>
            </a:pPr>
            <a:r>
              <a:rPr sz="2000" b="0">
                <a:solidFill>
                  <a:srgbClr val="20212A"/>
                </a:solidFill>
                <a:latin typeface="Arial"/>
              </a:rPr>
              <a:t>• Choose the discussion areas you need</a:t>
            </a:r>
          </a:p>
          <a:p>
            <a:pPr>
              <a:spcAft>
                <a:spcPts val="900"/>
              </a:spcAft>
            </a:pPr>
            <a:r>
              <a:rPr sz="2000" b="0">
                <a:solidFill>
                  <a:srgbClr val="20212A"/>
                </a:solidFill>
                <a:latin typeface="Arial"/>
              </a:rPr>
              <a:t>• Save and edit a private draft</a:t>
            </a:r>
          </a:p>
          <a:p>
            <a:pPr>
              <a:spcAft>
                <a:spcPts val="900"/>
              </a:spcAft>
            </a:pPr>
            <a:r>
              <a:rPr sz="2000" b="0">
                <a:solidFill>
                  <a:srgbClr val="20212A"/>
                </a:solidFill>
                <a:latin typeface="Arial"/>
              </a:rPr>
              <a:t>• Review, then send when ready</a:t>
            </a:r>
          </a:p>
          <a:p>
            <a:pPr>
              <a:spcAft>
                <a:spcPts val="900"/>
              </a:spcAft>
            </a:pPr>
            <a:r>
              <a:rPr sz="2000" b="0">
                <a:solidFill>
                  <a:srgbClr val="20212A"/>
                </a:solidFill>
                <a:latin typeface="Arial"/>
              </a:rPr>
              <a:t>• Read and respond in Slack</a:t>
            </a:r>
          </a:p>
          <a:p>
            <a:pPr>
              <a:spcAft>
                <a:spcPts val="900"/>
              </a:spcAft>
            </a:pPr>
            <a:r>
              <a:rPr sz="2000" b="0">
                <a:solidFill>
                  <a:srgbClr val="20212A"/>
                </a:solidFill>
                <a:latin typeface="Arial"/>
              </a:rPr>
              <a:t>• Keep manager-only notes private</a:t>
            </a:r>
          </a:p>
        </p:txBody>
      </p:sp>
      <p:sp>
        <p:nvSpPr>
          <p:cNvPr id="11" name="Rounded Rectangle 10"/>
          <p:cNvSpPr/>
          <p:nvPr/>
        </p:nvSpPr>
        <p:spPr>
          <a:xfrm>
            <a:off x="6263640" y="1554480"/>
            <a:ext cx="5376672" cy="4389120"/>
          </a:xfrm>
          <a:prstGeom prst="roundRect">
            <a:avLst/>
          </a:prstGeom>
          <a:solidFill>
            <a:srgbClr val="F3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737360"/>
            <a:ext cx="4974336" cy="411480"/>
          </a:xfrm>
          <a:prstGeom prst="rect">
            <a:avLst/>
          </a:prstGeom>
          <a:noFill/>
        </p:spPr>
        <p:txBody>
          <a:bodyPr wrap="square" lIns="0" rIns="0" tIns="0" bIns="0">
            <a:spAutoFit/>
          </a:bodyPr>
          <a:lstStyle/>
          <a:p>
            <a:pPr>
              <a:spcAft>
                <a:spcPts val="900"/>
              </a:spcAft>
            </a:pPr>
            <a:r>
              <a:rPr sz="2000" b="1">
                <a:solidFill>
                  <a:srgbClr val="087D64"/>
                </a:solidFill>
                <a:latin typeface="Arial"/>
              </a:rPr>
              <a:t>AI is available now</a:t>
            </a:r>
          </a:p>
        </p:txBody>
      </p:sp>
      <p:sp>
        <p:nvSpPr>
          <p:cNvPr id="13" name="TextBox 12"/>
          <p:cNvSpPr txBox="1"/>
          <p:nvPr/>
        </p:nvSpPr>
        <p:spPr>
          <a:xfrm>
            <a:off x="6464807" y="2286000"/>
            <a:ext cx="4974336" cy="3520439"/>
          </a:xfrm>
          <a:prstGeom prst="rect">
            <a:avLst/>
          </a:prstGeom>
          <a:noFill/>
        </p:spPr>
        <p:txBody>
          <a:bodyPr wrap="square" lIns="0" rIns="0" tIns="0" bIns="0">
            <a:spAutoFit/>
          </a:bodyPr>
          <a:lstStyle/>
          <a:p>
            <a:pPr>
              <a:spcAft>
                <a:spcPts val="900"/>
              </a:spcAft>
            </a:pPr>
            <a:r>
              <a:rPr sz="2000" b="0">
                <a:solidFill>
                  <a:srgbClr val="20212A"/>
                </a:solidFill>
                <a:latin typeface="Arial"/>
              </a:rPr>
              <a:t>• Suggest discussion questions</a:t>
            </a:r>
          </a:p>
          <a:p>
            <a:pPr>
              <a:spcAft>
                <a:spcPts val="900"/>
              </a:spcAft>
            </a:pPr>
            <a:r>
              <a:rPr sz="2000" b="0">
                <a:solidFill>
                  <a:srgbClr val="20212A"/>
                </a:solidFill>
                <a:latin typeface="Arial"/>
              </a:rPr>
              <a:t>• Draft check-in summaries</a:t>
            </a:r>
          </a:p>
          <a:p>
            <a:pPr>
              <a:spcAft>
                <a:spcPts val="900"/>
              </a:spcAft>
            </a:pPr>
            <a:r>
              <a:rPr sz="2000" b="0">
                <a:solidFill>
                  <a:srgbClr val="20212A"/>
                </a:solidFill>
                <a:latin typeface="Arial"/>
              </a:rPr>
              <a:t>• Propose follow-up actions</a:t>
            </a:r>
          </a:p>
          <a:p>
            <a:pPr>
              <a:spcAft>
                <a:spcPts val="900"/>
              </a:spcAft>
            </a:pPr>
            <a:r>
              <a:rPr sz="2000" b="0">
                <a:solidFill>
                  <a:srgbClr val="20212A"/>
                </a:solidFill>
                <a:latin typeface="Arial"/>
              </a:rPr>
              <a:t>• Edit and fact-check every suggestion</a:t>
            </a:r>
          </a:p>
          <a:p>
            <a:pPr>
              <a:spcAft>
                <a:spcPts val="900"/>
              </a:spcAft>
            </a:pPr>
            <a:r>
              <a:rPr sz="2000" b="0">
                <a:solidFill>
                  <a:srgbClr val="20212A"/>
                </a:solidFill>
                <a:latin typeface="Arial"/>
              </a:rPr>
              <a:t>• Explicitly approve before saving</a:t>
            </a:r>
          </a:p>
          <a:p>
            <a:pPr>
              <a:spcAft>
                <a:spcPts val="900"/>
              </a:spcAft>
            </a:pPr>
            <a:r>
              <a:rPr sz="2000" b="0">
                <a:solidFill>
                  <a:srgbClr val="20212A"/>
                </a:solidFill>
                <a:latin typeface="Arial"/>
              </a:rPr>
              <a:t>• Manager-side AI confirmed working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548640" y="274320"/>
            <a:ext cx="10972800" cy="502920"/>
          </a:xfrm>
          <a:prstGeom prst="rect">
            <a:avLst/>
          </a:prstGeom>
          <a:noFill/>
        </p:spPr>
        <p:txBody>
          <a:bodyPr wrap="square" lIns="0" rIns="0" tIns="0" bIns="0">
            <a:spAutoFit/>
          </a:bodyPr>
          <a:lstStyle/>
          <a:p>
            <a:pPr>
              <a:spcAft>
                <a:spcPts val="900"/>
              </a:spcAft>
            </a:pPr>
            <a:r>
              <a:rPr sz="2900" b="1">
                <a:solidFill>
                  <a:srgbClr val="21163A"/>
                </a:solidFill>
                <a:latin typeface="Arial"/>
              </a:rPr>
              <a:t>AI stays under human control</a:t>
            </a:r>
          </a:p>
        </p:txBody>
      </p:sp>
      <p:sp>
        <p:nvSpPr>
          <p:cNvPr id="5" name="TextBox 4"/>
          <p:cNvSpPr txBox="1"/>
          <p:nvPr/>
        </p:nvSpPr>
        <p:spPr>
          <a:xfrm>
            <a:off x="548640" y="868680"/>
            <a:ext cx="10972800" cy="457200"/>
          </a:xfrm>
          <a:prstGeom prst="rect">
            <a:avLst/>
          </a:prstGeom>
          <a:noFill/>
        </p:spPr>
        <p:txBody>
          <a:bodyPr wrap="square" lIns="0" rIns="0" tIns="0" bIns="0">
            <a:spAutoFit/>
          </a:bodyPr>
          <a:lstStyle/>
          <a:p>
            <a:pPr>
              <a:spcAft>
                <a:spcPts val="900"/>
              </a:spcAft>
            </a:pPr>
            <a:r>
              <a:rPr sz="1500" b="0">
                <a:solidFill>
                  <a:srgbClr val="596070"/>
                </a:solidFill>
                <a:latin typeface="Arial"/>
              </a:rPr>
              <a:t>Consent → generate → edit → approve a private draft → review and send</a:t>
            </a:r>
          </a:p>
        </p:txBody>
      </p:sp>
      <p:sp>
        <p:nvSpPr>
          <p:cNvPr id="6" name="TextBox 5"/>
          <p:cNvSpPr txBox="1"/>
          <p:nvPr/>
        </p:nvSpPr>
        <p:spPr>
          <a:xfrm>
            <a:off x="548640" y="6473952"/>
            <a:ext cx="10058400" cy="182880"/>
          </a:xfrm>
          <a:prstGeom prst="rect">
            <a:avLst/>
          </a:prstGeom>
          <a:noFill/>
        </p:spPr>
        <p:txBody>
          <a:bodyPr wrap="square" lIns="0" rIns="0" tIns="0" bIns="0">
            <a:spAutoFit/>
          </a:bodyPr>
          <a:lstStyle/>
          <a:p>
            <a:pPr>
              <a:spcAft>
                <a:spcPts val="900"/>
              </a:spcAft>
            </a:pPr>
            <a:r>
              <a:rPr sz="1000" b="0">
                <a:solidFill>
                  <a:srgbClr val="596070"/>
                </a:solidFill>
                <a:latin typeface="Arial"/>
              </a:rPr>
              <a:t>PERFORMANCE CHECK-IN  •  PILOT STATUS  •  OCTOBER 9, 2026</a:t>
            </a:r>
          </a:p>
        </p:txBody>
      </p:sp>
      <p:sp>
        <p:nvSpPr>
          <p:cNvPr id="7" name="TextBox 6"/>
          <p:cNvSpPr txBox="1"/>
          <p:nvPr/>
        </p:nvSpPr>
        <p:spPr>
          <a:xfrm>
            <a:off x="10972800" y="6473952"/>
            <a:ext cx="548640" cy="182880"/>
          </a:xfrm>
          <a:prstGeom prst="rect">
            <a:avLst/>
          </a:prstGeom>
          <a:noFill/>
        </p:spPr>
        <p:txBody>
          <a:bodyPr wrap="square" lIns="0" rIns="0" tIns="0" bIns="0">
            <a:spAutoFit/>
          </a:bodyPr>
          <a:lstStyle/>
          <a:p>
            <a:pPr>
              <a:spcAft>
                <a:spcPts val="900"/>
              </a:spcAft>
            </a:pPr>
            <a:r>
              <a:rPr sz="1000" b="0">
                <a:solidFill>
                  <a:srgbClr val="596070"/>
                </a:solidFill>
                <a:latin typeface="Arial"/>
              </a:rPr>
              <a:t>2</a:t>
            </a:r>
          </a:p>
        </p:txBody>
      </p:sp>
      <p:sp>
        <p:nvSpPr>
          <p:cNvPr id="8" name="Rounded Rectangle 7"/>
          <p:cNvSpPr/>
          <p:nvPr/>
        </p:nvSpPr>
        <p:spPr>
          <a:xfrm>
            <a:off x="548640" y="1554480"/>
            <a:ext cx="5486400" cy="4389120"/>
          </a:xfrm>
          <a:prstGeom prst="roundRect">
            <a:avLst/>
          </a:prstGeom>
          <a:solidFill>
            <a:srgbClr val="F3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37360"/>
            <a:ext cx="5084064" cy="411480"/>
          </a:xfrm>
          <a:prstGeom prst="rect">
            <a:avLst/>
          </a:prstGeom>
          <a:noFill/>
        </p:spPr>
        <p:txBody>
          <a:bodyPr wrap="square" lIns="0" rIns="0" tIns="0" bIns="0">
            <a:spAutoFit/>
          </a:bodyPr>
          <a:lstStyle/>
          <a:p>
            <a:pPr>
              <a:spcAft>
                <a:spcPts val="900"/>
              </a:spcAft>
            </a:pPr>
            <a:r>
              <a:rPr sz="2000" b="1">
                <a:solidFill>
                  <a:srgbClr val="087D64"/>
                </a:solidFill>
                <a:latin typeface="Arial"/>
              </a:rPr>
              <a:t>Privacy &amp; approval</a:t>
            </a:r>
          </a:p>
        </p:txBody>
      </p:sp>
      <p:sp>
        <p:nvSpPr>
          <p:cNvPr id="10" name="TextBox 9"/>
          <p:cNvSpPr txBox="1"/>
          <p:nvPr/>
        </p:nvSpPr>
        <p:spPr>
          <a:xfrm>
            <a:off x="749808" y="2286000"/>
            <a:ext cx="5084064" cy="3520439"/>
          </a:xfrm>
          <a:prstGeom prst="rect">
            <a:avLst/>
          </a:prstGeom>
          <a:noFill/>
        </p:spPr>
        <p:txBody>
          <a:bodyPr wrap="square" lIns="0" rIns="0" tIns="0" bIns="0">
            <a:spAutoFit/>
          </a:bodyPr>
          <a:lstStyle/>
          <a:p>
            <a:pPr>
              <a:spcAft>
                <a:spcPts val="900"/>
              </a:spcAft>
            </a:pPr>
            <a:r>
              <a:rPr sz="1900" b="0">
                <a:solidFill>
                  <a:srgbClr val="20212A"/>
                </a:solidFill>
                <a:latin typeface="Arial"/>
              </a:rPr>
              <a:t>• Private manager notes stay out of AI</a:t>
            </a:r>
          </a:p>
          <a:p>
            <a:pPr>
              <a:spcAft>
                <a:spcPts val="900"/>
              </a:spcAft>
            </a:pPr>
            <a:r>
              <a:rPr sz="1900" b="0">
                <a:solidFill>
                  <a:srgbClr val="20212A"/>
                </a:solidFill>
                <a:latin typeface="Arial"/>
              </a:rPr>
              <a:t>• Shared fields go to OpenAI with consent</a:t>
            </a:r>
          </a:p>
          <a:p>
            <a:pPr>
              <a:spcAft>
                <a:spcPts val="900"/>
              </a:spcAft>
            </a:pPr>
            <a:r>
              <a:rPr sz="1900" b="0">
                <a:solidFill>
                  <a:srgbClr val="20212A"/>
                </a:solidFill>
                <a:latin typeface="Arial"/>
              </a:rPr>
              <a:t>• AI can make mistakes: people review</a:t>
            </a:r>
          </a:p>
          <a:p>
            <a:pPr>
              <a:spcAft>
                <a:spcPts val="900"/>
              </a:spcAft>
            </a:pPr>
            <a:r>
              <a:rPr sz="1900" b="0">
                <a:solidFill>
                  <a:srgbClr val="20212A"/>
                </a:solidFill>
                <a:latin typeface="Arial"/>
              </a:rPr>
              <a:t>• No automatic sending or assignment</a:t>
            </a:r>
          </a:p>
          <a:p>
            <a:pPr>
              <a:spcAft>
                <a:spcPts val="900"/>
              </a:spcAft>
            </a:pPr>
            <a:r>
              <a:rPr sz="1900" b="0">
                <a:solidFill>
                  <a:srgbClr val="20212A"/>
                </a:solidFill>
                <a:latin typeface="Arial"/>
              </a:rPr>
              <a:t>• No AI ratings or employment decisions</a:t>
            </a:r>
          </a:p>
          <a:p>
            <a:pPr>
              <a:spcAft>
                <a:spcPts val="900"/>
              </a:spcAft>
            </a:pPr>
            <a:r>
              <a:rPr sz="1900" b="0">
                <a:solidFill>
                  <a:srgbClr val="20212A"/>
                </a:solidFill>
                <a:latin typeface="Arial"/>
              </a:rPr>
              <a:t>• Owners and dates stay human decisions</a:t>
            </a:r>
          </a:p>
        </p:txBody>
      </p:sp>
      <p:sp>
        <p:nvSpPr>
          <p:cNvPr id="11" name="Rounded Rectangle 10"/>
          <p:cNvSpPr/>
          <p:nvPr/>
        </p:nvSpPr>
        <p:spPr>
          <a:xfrm>
            <a:off x="6263640" y="1554480"/>
            <a:ext cx="5376672" cy="4389120"/>
          </a:xfrm>
          <a:prstGeom prst="roundRect">
            <a:avLst/>
          </a:prstGeom>
          <a:solidFill>
            <a:srgbClr val="F3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737360"/>
            <a:ext cx="4974336" cy="411480"/>
          </a:xfrm>
          <a:prstGeom prst="rect">
            <a:avLst/>
          </a:prstGeom>
          <a:noFill/>
        </p:spPr>
        <p:txBody>
          <a:bodyPr wrap="square" lIns="0" rIns="0" tIns="0" bIns="0">
            <a:spAutoFit/>
          </a:bodyPr>
          <a:lstStyle/>
          <a:p>
            <a:pPr>
              <a:spcAft>
                <a:spcPts val="900"/>
              </a:spcAft>
            </a:pPr>
            <a:r>
              <a:rPr sz="2000" b="1">
                <a:solidFill>
                  <a:srgbClr val="087D64"/>
                </a:solidFill>
                <a:latin typeface="Arial"/>
              </a:rPr>
              <a:t>Next steps for a wider rollout</a:t>
            </a:r>
          </a:p>
        </p:txBody>
      </p:sp>
      <p:sp>
        <p:nvSpPr>
          <p:cNvPr id="13" name="TextBox 12"/>
          <p:cNvSpPr txBox="1"/>
          <p:nvPr/>
        </p:nvSpPr>
        <p:spPr>
          <a:xfrm>
            <a:off x="6464807" y="2286000"/>
            <a:ext cx="4974336" cy="3520439"/>
          </a:xfrm>
          <a:prstGeom prst="rect">
            <a:avLst/>
          </a:prstGeom>
          <a:noFill/>
        </p:spPr>
        <p:txBody>
          <a:bodyPr wrap="square" lIns="0" rIns="0" tIns="0" bIns="0">
            <a:spAutoFit/>
          </a:bodyPr>
          <a:lstStyle/>
          <a:p>
            <a:pPr>
              <a:spcAft>
                <a:spcPts val="900"/>
              </a:spcAft>
            </a:pPr>
            <a:r>
              <a:rPr sz="1900" b="0">
                <a:solidFill>
                  <a:srgbClr val="20212A"/>
                </a:solidFill>
                <a:latin typeface="Arial"/>
              </a:rPr>
              <a:t>• Finish access and reliability checks</a:t>
            </a:r>
          </a:p>
          <a:p>
            <a:pPr>
              <a:spcAft>
                <a:spcPts val="900"/>
              </a:spcAft>
            </a:pPr>
            <a:r>
              <a:rPr sz="1900" b="0">
                <a:solidFill>
                  <a:srgbClr val="20212A"/>
                </a:solidFill>
                <a:latin typeface="Arial"/>
              </a:rPr>
              <a:t>• Set usage and cost limits</a:t>
            </a:r>
          </a:p>
          <a:p>
            <a:pPr>
              <a:spcAft>
                <a:spcPts val="900"/>
              </a:spcAft>
            </a:pPr>
            <a:r>
              <a:rPr sz="1900" b="0">
                <a:solidFill>
                  <a:srgbClr val="20212A"/>
                </a:solidFill>
                <a:latin typeface="Arial"/>
              </a:rPr>
              <a:t>• Agree support and privacy ownership</a:t>
            </a:r>
          </a:p>
          <a:p>
            <a:pPr>
              <a:spcAft>
                <a:spcPts val="900"/>
              </a:spcAft>
            </a:pPr>
          </a:p>
          <a:p>
            <a:pPr>
              <a:spcAft>
                <a:spcPts val="900"/>
              </a:spcAft>
            </a:pPr>
            <a:r>
              <a:rPr sz="1900" b="0">
                <a:solidFill>
                  <a:srgbClr val="20212A"/>
                </a:solidFill>
                <a:latin typeface="Arial"/>
              </a:rPr>
              <a:t>Optional future additions:</a:t>
            </a:r>
          </a:p>
          <a:p>
            <a:pPr>
              <a:spcAft>
                <a:spcPts val="900"/>
              </a:spcAft>
            </a:pPr>
            <a:r>
              <a:rPr sz="1900" b="0">
                <a:solidFill>
                  <a:srgbClr val="20212A"/>
                </a:solidFill>
                <a:latin typeface="Arial"/>
              </a:rPr>
              <a:t>• Import a staff list</a:t>
            </a:r>
          </a:p>
          <a:p>
            <a:pPr>
              <a:spcAft>
                <a:spcPts val="900"/>
              </a:spcAft>
            </a:pPr>
            <a:r>
              <a:rPr sz="1900" b="0">
                <a:solidFill>
                  <a:srgbClr val="20212A"/>
                </a:solidFill>
                <a:latin typeface="Arial"/>
              </a:rPr>
              <a:t>• Connect to the organization’s HR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